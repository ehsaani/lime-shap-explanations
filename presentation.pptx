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ormorant Garamond Bold" charset="1" panose="00000800000000000000"/>
      <p:regular r:id="rId22"/>
    </p:embeddedFont>
    <p:embeddedFont>
      <p:font typeface="Quicksand" charset="1" panose="00000000000000000000"/>
      <p:regular r:id="rId23"/>
    </p:embeddedFont>
    <p:embeddedFont>
      <p:font typeface="Cormorant Garamond Bold Italics" charset="1" panose="00000800000000000000"/>
      <p:regular r:id="rId24"/>
    </p:embeddedFont>
    <p:embeddedFont>
      <p:font typeface="Quicksand Bold" charset="1" panose="00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3.jpe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3.png" Type="http://schemas.openxmlformats.org/officeDocument/2006/relationships/image"/><Relationship Id="rId4" Target="../media/image24.sv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3784596"/>
            <a:ext cx="18288000" cy="137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Cu</a:t>
            </a:r>
            <a:r>
              <a:rPr lang="en-US" b="true" sz="8000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s</a:t>
            </a:r>
            <a:r>
              <a:rPr lang="en-US" b="true" sz="8000" strike="noStrike" u="none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t</a:t>
            </a:r>
            <a:r>
              <a:rPr lang="en-US" b="true" sz="8000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o</a:t>
            </a:r>
            <a:r>
              <a:rPr lang="en-US" b="true" sz="8000" strike="noStrike" u="none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me</a:t>
            </a:r>
            <a:r>
              <a:rPr lang="en-US" b="true" sz="8000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r </a:t>
            </a:r>
            <a:r>
              <a:rPr lang="en-US" b="true" sz="8000" strike="noStrike" u="none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Churn</a:t>
            </a:r>
            <a:r>
              <a:rPr lang="en-US" b="true" sz="8000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 </a:t>
            </a:r>
            <a:r>
              <a:rPr lang="en-US" b="true" sz="8000" strike="noStrike" u="none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A</a:t>
            </a:r>
            <a:r>
              <a:rPr lang="en-US" b="true" sz="8000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nalysis </a:t>
            </a:r>
            <a:r>
              <a:rPr lang="en-US" b="true" sz="8000" strike="noStrike" u="none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and</a:t>
            </a:r>
            <a:r>
              <a:rPr lang="en-US" b="true" sz="8000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 </a:t>
            </a:r>
            <a:r>
              <a:rPr lang="en-US" b="true" sz="8000" strike="noStrike" u="none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Pr</a:t>
            </a:r>
            <a:r>
              <a:rPr lang="en-US" b="true" sz="8000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e</a:t>
            </a:r>
            <a:r>
              <a:rPr lang="en-US" b="true" sz="8000" strike="noStrike" u="none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di</a:t>
            </a:r>
            <a:r>
              <a:rPr lang="en-US" b="true" sz="8000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c</a:t>
            </a:r>
            <a:r>
              <a:rPr lang="en-US" b="true" sz="8000" strike="noStrike" u="none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ti</a:t>
            </a:r>
            <a:r>
              <a:rPr lang="en-US" b="true" sz="8000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78970" y="5680069"/>
            <a:ext cx="18288000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</a:p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SW </a:t>
            </a:r>
            <a:r>
              <a:rPr lang="en-US" sz="35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and methods for statistical analysis of economic data</a:t>
            </a:r>
          </a:p>
          <a:p>
            <a:pPr algn="ctr" marL="0" indent="0" lvl="0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762619" y="8096244"/>
            <a:ext cx="6988496" cy="52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97"/>
              </a:lnSpc>
              <a:spcBef>
                <a:spcPct val="0"/>
              </a:spcBef>
            </a:pPr>
            <a:r>
              <a:rPr lang="en-US" sz="3141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20 June, 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43209" y="2266227"/>
            <a:ext cx="11643643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Mohammad Ehsani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958626" y="8977602"/>
            <a:ext cx="1127893" cy="112789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>
                <a:alphaModFix amt="85000"/>
              </a:blip>
              <a:stretch>
                <a:fillRect l="-188" t="0" r="-188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4682" y="2947762"/>
            <a:ext cx="4058094" cy="4842397"/>
            <a:chOff x="0" y="0"/>
            <a:chExt cx="1418473" cy="16926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8473" cy="1692619"/>
            </a:xfrm>
            <a:custGeom>
              <a:avLst/>
              <a:gdLst/>
              <a:ahLst/>
              <a:cxnLst/>
              <a:rect r="r" b="b" t="t" l="l"/>
              <a:pathLst>
                <a:path h="1692619" w="1418473">
                  <a:moveTo>
                    <a:pt x="97296" y="0"/>
                  </a:moveTo>
                  <a:lnTo>
                    <a:pt x="1321176" y="0"/>
                  </a:lnTo>
                  <a:cubicBezTo>
                    <a:pt x="1346981" y="0"/>
                    <a:pt x="1371729" y="10251"/>
                    <a:pt x="1389975" y="28497"/>
                  </a:cubicBezTo>
                  <a:cubicBezTo>
                    <a:pt x="1408222" y="46744"/>
                    <a:pt x="1418473" y="71492"/>
                    <a:pt x="1418473" y="97296"/>
                  </a:cubicBezTo>
                  <a:lnTo>
                    <a:pt x="1418473" y="1595323"/>
                  </a:lnTo>
                  <a:cubicBezTo>
                    <a:pt x="1418473" y="1621128"/>
                    <a:pt x="1408222" y="1645875"/>
                    <a:pt x="1389975" y="1664122"/>
                  </a:cubicBezTo>
                  <a:cubicBezTo>
                    <a:pt x="1371729" y="1682368"/>
                    <a:pt x="1346981" y="1692619"/>
                    <a:pt x="1321176" y="1692619"/>
                  </a:cubicBezTo>
                  <a:lnTo>
                    <a:pt x="97296" y="1692619"/>
                  </a:lnTo>
                  <a:cubicBezTo>
                    <a:pt x="43561" y="1692619"/>
                    <a:pt x="0" y="1649058"/>
                    <a:pt x="0" y="1595323"/>
                  </a:cubicBezTo>
                  <a:lnTo>
                    <a:pt x="0" y="97296"/>
                  </a:lnTo>
                  <a:cubicBezTo>
                    <a:pt x="0" y="71492"/>
                    <a:pt x="10251" y="46744"/>
                    <a:pt x="28497" y="28497"/>
                  </a:cubicBezTo>
                  <a:cubicBezTo>
                    <a:pt x="46744" y="10251"/>
                    <a:pt x="71492" y="0"/>
                    <a:pt x="97296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68802" y="3264823"/>
            <a:ext cx="1769853" cy="1769853"/>
          </a:xfrm>
          <a:custGeom>
            <a:avLst/>
            <a:gdLst/>
            <a:ahLst/>
            <a:cxnLst/>
            <a:rect r="r" b="b" t="t" l="l"/>
            <a:pathLst>
              <a:path h="1769853" w="1769853">
                <a:moveTo>
                  <a:pt x="0" y="0"/>
                </a:moveTo>
                <a:lnTo>
                  <a:pt x="1769853" y="0"/>
                </a:lnTo>
                <a:lnTo>
                  <a:pt x="1769853" y="1769853"/>
                </a:lnTo>
                <a:lnTo>
                  <a:pt x="0" y="17698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767060" y="9906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795412" y="2947762"/>
            <a:ext cx="4058094" cy="4842397"/>
            <a:chOff x="0" y="0"/>
            <a:chExt cx="1418473" cy="16926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18473" cy="1692619"/>
            </a:xfrm>
            <a:custGeom>
              <a:avLst/>
              <a:gdLst/>
              <a:ahLst/>
              <a:cxnLst/>
              <a:rect r="r" b="b" t="t" l="l"/>
              <a:pathLst>
                <a:path h="1692619" w="1418473">
                  <a:moveTo>
                    <a:pt x="97296" y="0"/>
                  </a:moveTo>
                  <a:lnTo>
                    <a:pt x="1321176" y="0"/>
                  </a:lnTo>
                  <a:cubicBezTo>
                    <a:pt x="1346981" y="0"/>
                    <a:pt x="1371729" y="10251"/>
                    <a:pt x="1389975" y="28497"/>
                  </a:cubicBezTo>
                  <a:cubicBezTo>
                    <a:pt x="1408222" y="46744"/>
                    <a:pt x="1418473" y="71492"/>
                    <a:pt x="1418473" y="97296"/>
                  </a:cubicBezTo>
                  <a:lnTo>
                    <a:pt x="1418473" y="1595323"/>
                  </a:lnTo>
                  <a:cubicBezTo>
                    <a:pt x="1418473" y="1621128"/>
                    <a:pt x="1408222" y="1645875"/>
                    <a:pt x="1389975" y="1664122"/>
                  </a:cubicBezTo>
                  <a:cubicBezTo>
                    <a:pt x="1371729" y="1682368"/>
                    <a:pt x="1346981" y="1692619"/>
                    <a:pt x="1321176" y="1692619"/>
                  </a:cubicBezTo>
                  <a:lnTo>
                    <a:pt x="97296" y="1692619"/>
                  </a:lnTo>
                  <a:cubicBezTo>
                    <a:pt x="43561" y="1692619"/>
                    <a:pt x="0" y="1649058"/>
                    <a:pt x="0" y="1595323"/>
                  </a:cubicBezTo>
                  <a:lnTo>
                    <a:pt x="0" y="97296"/>
                  </a:lnTo>
                  <a:cubicBezTo>
                    <a:pt x="0" y="71492"/>
                    <a:pt x="10251" y="46744"/>
                    <a:pt x="28497" y="28497"/>
                  </a:cubicBezTo>
                  <a:cubicBezTo>
                    <a:pt x="46744" y="10251"/>
                    <a:pt x="71492" y="0"/>
                    <a:pt x="97296" y="0"/>
                  </a:cubicBezTo>
                  <a:close/>
                </a:path>
              </a:pathLst>
            </a:custGeom>
            <a:solidFill>
              <a:srgbClr val="ADC1D4">
                <a:alpha val="74902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75812" y="2930538"/>
            <a:ext cx="4058094" cy="4842397"/>
            <a:chOff x="0" y="0"/>
            <a:chExt cx="1418473" cy="16926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18473" cy="1692619"/>
            </a:xfrm>
            <a:custGeom>
              <a:avLst/>
              <a:gdLst/>
              <a:ahLst/>
              <a:cxnLst/>
              <a:rect r="r" b="b" t="t" l="l"/>
              <a:pathLst>
                <a:path h="1692619" w="1418473">
                  <a:moveTo>
                    <a:pt x="97296" y="0"/>
                  </a:moveTo>
                  <a:lnTo>
                    <a:pt x="1321176" y="0"/>
                  </a:lnTo>
                  <a:cubicBezTo>
                    <a:pt x="1346981" y="0"/>
                    <a:pt x="1371729" y="10251"/>
                    <a:pt x="1389975" y="28497"/>
                  </a:cubicBezTo>
                  <a:cubicBezTo>
                    <a:pt x="1408222" y="46744"/>
                    <a:pt x="1418473" y="71492"/>
                    <a:pt x="1418473" y="97296"/>
                  </a:cubicBezTo>
                  <a:lnTo>
                    <a:pt x="1418473" y="1595323"/>
                  </a:lnTo>
                  <a:cubicBezTo>
                    <a:pt x="1418473" y="1621128"/>
                    <a:pt x="1408222" y="1645875"/>
                    <a:pt x="1389975" y="1664122"/>
                  </a:cubicBezTo>
                  <a:cubicBezTo>
                    <a:pt x="1371729" y="1682368"/>
                    <a:pt x="1346981" y="1692619"/>
                    <a:pt x="1321176" y="1692619"/>
                  </a:cubicBezTo>
                  <a:lnTo>
                    <a:pt x="97296" y="1692619"/>
                  </a:lnTo>
                  <a:cubicBezTo>
                    <a:pt x="43561" y="1692619"/>
                    <a:pt x="0" y="1649058"/>
                    <a:pt x="0" y="1595323"/>
                  </a:cubicBezTo>
                  <a:lnTo>
                    <a:pt x="0" y="97296"/>
                  </a:lnTo>
                  <a:cubicBezTo>
                    <a:pt x="0" y="71492"/>
                    <a:pt x="10251" y="46744"/>
                    <a:pt x="28497" y="28497"/>
                  </a:cubicBezTo>
                  <a:cubicBezTo>
                    <a:pt x="46744" y="10251"/>
                    <a:pt x="71492" y="0"/>
                    <a:pt x="97296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756212" y="2947762"/>
            <a:ext cx="4058094" cy="4842397"/>
            <a:chOff x="0" y="0"/>
            <a:chExt cx="1418473" cy="16926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18473" cy="1692619"/>
            </a:xfrm>
            <a:custGeom>
              <a:avLst/>
              <a:gdLst/>
              <a:ahLst/>
              <a:cxnLst/>
              <a:rect r="r" b="b" t="t" l="l"/>
              <a:pathLst>
                <a:path h="1692619" w="1418473">
                  <a:moveTo>
                    <a:pt x="97296" y="0"/>
                  </a:moveTo>
                  <a:lnTo>
                    <a:pt x="1321176" y="0"/>
                  </a:lnTo>
                  <a:cubicBezTo>
                    <a:pt x="1346981" y="0"/>
                    <a:pt x="1371729" y="10251"/>
                    <a:pt x="1389975" y="28497"/>
                  </a:cubicBezTo>
                  <a:cubicBezTo>
                    <a:pt x="1408222" y="46744"/>
                    <a:pt x="1418473" y="71492"/>
                    <a:pt x="1418473" y="97296"/>
                  </a:cubicBezTo>
                  <a:lnTo>
                    <a:pt x="1418473" y="1595323"/>
                  </a:lnTo>
                  <a:cubicBezTo>
                    <a:pt x="1418473" y="1621128"/>
                    <a:pt x="1408222" y="1645875"/>
                    <a:pt x="1389975" y="1664122"/>
                  </a:cubicBezTo>
                  <a:cubicBezTo>
                    <a:pt x="1371729" y="1682368"/>
                    <a:pt x="1346981" y="1692619"/>
                    <a:pt x="1321176" y="1692619"/>
                  </a:cubicBezTo>
                  <a:lnTo>
                    <a:pt x="97296" y="1692619"/>
                  </a:lnTo>
                  <a:cubicBezTo>
                    <a:pt x="43561" y="1692619"/>
                    <a:pt x="0" y="1649058"/>
                    <a:pt x="0" y="1595323"/>
                  </a:cubicBezTo>
                  <a:lnTo>
                    <a:pt x="0" y="97296"/>
                  </a:lnTo>
                  <a:cubicBezTo>
                    <a:pt x="0" y="71492"/>
                    <a:pt x="10251" y="46744"/>
                    <a:pt x="28497" y="28497"/>
                  </a:cubicBezTo>
                  <a:cubicBezTo>
                    <a:pt x="46744" y="10251"/>
                    <a:pt x="71492" y="0"/>
                    <a:pt x="97296" y="0"/>
                  </a:cubicBezTo>
                  <a:close/>
                </a:path>
              </a:pathLst>
            </a:custGeom>
            <a:solidFill>
              <a:srgbClr val="ADC1D4">
                <a:alpha val="74902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23825"/>
              <a:ext cx="1418473" cy="181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787046" y="3156251"/>
            <a:ext cx="1854518" cy="1878425"/>
          </a:xfrm>
          <a:custGeom>
            <a:avLst/>
            <a:gdLst/>
            <a:ahLst/>
            <a:cxnLst/>
            <a:rect r="r" b="b" t="t" l="l"/>
            <a:pathLst>
              <a:path h="1878425" w="1854518">
                <a:moveTo>
                  <a:pt x="0" y="0"/>
                </a:moveTo>
                <a:lnTo>
                  <a:pt x="1854517" y="0"/>
                </a:lnTo>
                <a:lnTo>
                  <a:pt x="1854517" y="1878425"/>
                </a:lnTo>
                <a:lnTo>
                  <a:pt x="0" y="18784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95018" y="3235303"/>
            <a:ext cx="1799372" cy="1799372"/>
          </a:xfrm>
          <a:custGeom>
            <a:avLst/>
            <a:gdLst/>
            <a:ahLst/>
            <a:cxnLst/>
            <a:rect r="r" b="b" t="t" l="l"/>
            <a:pathLst>
              <a:path h="1799372" w="1799372">
                <a:moveTo>
                  <a:pt x="0" y="0"/>
                </a:moveTo>
                <a:lnTo>
                  <a:pt x="1799372" y="0"/>
                </a:lnTo>
                <a:lnTo>
                  <a:pt x="1799372" y="1799373"/>
                </a:lnTo>
                <a:lnTo>
                  <a:pt x="0" y="17993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6958626" y="8977602"/>
            <a:ext cx="1127893" cy="112789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>
                <a:alphaModFix amt="85000"/>
              </a:blip>
              <a:stretch>
                <a:fillRect l="-188" t="0" r="-188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4607939" y="3202883"/>
            <a:ext cx="2134330" cy="1893733"/>
          </a:xfrm>
          <a:custGeom>
            <a:avLst/>
            <a:gdLst/>
            <a:ahLst/>
            <a:cxnLst/>
            <a:rect r="r" b="b" t="t" l="l"/>
            <a:pathLst>
              <a:path h="1893733" w="2134330">
                <a:moveTo>
                  <a:pt x="0" y="0"/>
                </a:moveTo>
                <a:lnTo>
                  <a:pt x="2134330" y="0"/>
                </a:lnTo>
                <a:lnTo>
                  <a:pt x="2134330" y="1893733"/>
                </a:lnTo>
                <a:lnTo>
                  <a:pt x="0" y="18937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599709"/>
            <a:ext cx="81153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Project Objectives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1476" y="5996319"/>
            <a:ext cx="3844196" cy="151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0426" indent="-195213" lvl="1">
              <a:lnSpc>
                <a:spcPts val="3074"/>
              </a:lnSpc>
              <a:buFont typeface="Arial"/>
              <a:buChar char="•"/>
            </a:pPr>
            <a:r>
              <a:rPr lang="en-US" sz="1808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Build a model to identify customers likely to leave the service, and discover key features.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1630" y="5313637"/>
            <a:ext cx="3844196" cy="35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3"/>
              </a:lnSpc>
              <a:spcBef>
                <a:spcPct val="0"/>
              </a:spcBef>
            </a:pPr>
            <a:r>
              <a:rPr lang="en-US" b="true" sz="210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Predict Customer Churn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792206" y="5996319"/>
            <a:ext cx="3844196" cy="1511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0426" indent="-195213" lvl="1">
              <a:lnSpc>
                <a:spcPts val="3074"/>
              </a:lnSpc>
              <a:buFont typeface="Arial"/>
              <a:buChar char="•"/>
            </a:pPr>
            <a:r>
              <a:rPr lang="en-US" sz="1808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Evaluate logistic regression, SVM, and random forest for performance and interpretability.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902361" y="5313637"/>
            <a:ext cx="3844196" cy="35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3"/>
              </a:lnSpc>
              <a:spcBef>
                <a:spcPct val="0"/>
              </a:spcBef>
            </a:pPr>
            <a:r>
              <a:rPr lang="en-US" b="true" sz="210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Compare ML Models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72606" y="5979096"/>
            <a:ext cx="3844196" cy="112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0426" indent="-195213" lvl="1">
              <a:lnSpc>
                <a:spcPts val="3074"/>
              </a:lnSpc>
              <a:buFont typeface="Arial"/>
              <a:buChar char="•"/>
            </a:pPr>
            <a:r>
              <a:rPr lang="en-US" sz="1808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Provide actionable insights to help the business reduce</a:t>
            </a:r>
          </a:p>
          <a:p>
            <a:pPr algn="l">
              <a:lnSpc>
                <a:spcPts val="3074"/>
              </a:lnSpc>
            </a:pPr>
            <a:r>
              <a:rPr lang="en-US" sz="1808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     churn.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82760" y="5296414"/>
            <a:ext cx="3844196" cy="35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3"/>
              </a:lnSpc>
              <a:spcBef>
                <a:spcPct val="0"/>
              </a:spcBef>
            </a:pPr>
            <a:r>
              <a:rPr lang="en-US" b="true" sz="210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Improve Customer Retention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53005" y="5996319"/>
            <a:ext cx="3844196" cy="112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0426" indent="-195213" lvl="1">
              <a:lnSpc>
                <a:spcPts val="3074"/>
              </a:lnSpc>
              <a:buFont typeface="Arial"/>
              <a:buChar char="•"/>
            </a:pPr>
            <a:r>
              <a:rPr lang="en-US" sz="1808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Use LIME and SHAP to explain both global and individual model decisions.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863160" y="5313637"/>
            <a:ext cx="3844196" cy="35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3"/>
              </a:lnSpc>
              <a:spcBef>
                <a:spcPct val="0"/>
              </a:spcBef>
            </a:pPr>
            <a:r>
              <a:rPr lang="en-US" b="true" sz="210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Ensure Explainability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93893" y="15849"/>
            <a:ext cx="4194107" cy="10271151"/>
            <a:chOff x="0" y="0"/>
            <a:chExt cx="1104621" cy="2705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621" cy="2705159"/>
            </a:xfrm>
            <a:custGeom>
              <a:avLst/>
              <a:gdLst/>
              <a:ahLst/>
              <a:cxnLst/>
              <a:rect r="r" b="b" t="t" l="l"/>
              <a:pathLst>
                <a:path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974931"/>
            <a:ext cx="1905000" cy="283369"/>
          </a:xfrm>
          <a:custGeom>
            <a:avLst/>
            <a:gdLst/>
            <a:ahLst/>
            <a:cxnLst/>
            <a:rect r="r" b="b" t="t" l="l"/>
            <a:pathLst>
              <a:path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76641" y="3002726"/>
            <a:ext cx="7786382" cy="4619590"/>
          </a:xfrm>
          <a:custGeom>
            <a:avLst/>
            <a:gdLst/>
            <a:ahLst/>
            <a:cxnLst/>
            <a:rect r="r" b="b" t="t" l="l"/>
            <a:pathLst>
              <a:path h="4619590" w="7786382">
                <a:moveTo>
                  <a:pt x="0" y="0"/>
                </a:moveTo>
                <a:lnTo>
                  <a:pt x="7786381" y="0"/>
                </a:lnTo>
                <a:lnTo>
                  <a:pt x="7786381" y="4619590"/>
                </a:lnTo>
                <a:lnTo>
                  <a:pt x="0" y="46195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9796" t="-9585" r="-4602" b="-152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99709"/>
            <a:ext cx="939024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Understanding the 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3126" y="2001851"/>
            <a:ext cx="8840874" cy="614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Rows: 6687 customer records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16 Categorical &amp; 13 Numerical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Columns: 29 variables including:</a:t>
            </a:r>
          </a:p>
          <a:p>
            <a:pPr algn="l" marL="1036320" indent="-345440" lvl="2">
              <a:lnSpc>
                <a:spcPts val="4079"/>
              </a:lnSpc>
              <a:buFont typeface="Arial"/>
              <a:buChar char="⚬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Demographics: age, state, gender.</a:t>
            </a:r>
          </a:p>
          <a:p>
            <a:pPr algn="l" marL="1036320" indent="-345440" lvl="2">
              <a:lnSpc>
                <a:spcPts val="4079"/>
              </a:lnSpc>
              <a:buFont typeface="Arial"/>
              <a:buChar char="⚬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Service Info: contract type, internet plan, international plan.</a:t>
            </a:r>
          </a:p>
          <a:p>
            <a:pPr algn="l" marL="1036320" indent="-345440" lvl="2">
              <a:lnSpc>
                <a:spcPts val="4079"/>
              </a:lnSpc>
              <a:buFont typeface="Arial"/>
              <a:buChar char="⚬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Usage Metrics: monthly charge, total charges, avg. GB download.</a:t>
            </a:r>
          </a:p>
          <a:p>
            <a:pPr algn="l" marL="1036320" indent="-345440" lvl="2">
              <a:lnSpc>
                <a:spcPts val="4079"/>
              </a:lnSpc>
              <a:buFont typeface="Arial"/>
              <a:buChar char="⚬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Support Metrics: customer service calls.</a:t>
            </a:r>
          </a:p>
          <a:p>
            <a:pPr algn="l" marL="1036320" indent="-345440" lvl="2">
              <a:lnSpc>
                <a:spcPts val="4079"/>
              </a:lnSpc>
              <a:buFont typeface="Arial"/>
              <a:buChar char="⚬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Churn Details: churn label, churn reason, churn category.</a:t>
            </a:r>
          </a:p>
          <a:p>
            <a:pPr algn="l" marL="0" indent="0" lvl="0">
              <a:lnSpc>
                <a:spcPts val="407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6958626" y="8977602"/>
            <a:ext cx="1127893" cy="112789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>
                <a:alphaModFix amt="85000"/>
              </a:blip>
              <a:stretch>
                <a:fillRect l="-188" t="0" r="-188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Handling Missing Data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23982" y="963053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8787134">
            <a:off x="11068846" y="4271068"/>
            <a:ext cx="11474856" cy="114748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BE5EA">
                <a:alpha val="8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79375"/>
              <a:ext cx="7112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44862" y="799756"/>
            <a:ext cx="5768089" cy="5705836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26040" y="4880333"/>
            <a:ext cx="5768089" cy="5705836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 rot="0">
            <a:off x="16958626" y="8977602"/>
            <a:ext cx="1127893" cy="112789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>
                <a:alphaModFix amt="85000"/>
              </a:blip>
              <a:stretch>
                <a:fillRect l="-188" t="0" r="-188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757905" y="1777327"/>
            <a:ext cx="2494304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Churn Reason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2278" y="2159154"/>
            <a:ext cx="5348229" cy="251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Missing data wasn’t extensive, but some important columns like churn reason had gaps.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trike="noStrike" u="none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Custom check for “NA”, blanks and “”.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39155" y="8285573"/>
            <a:ext cx="292964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Churn Category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6478" y="155683"/>
            <a:ext cx="9838239" cy="9949812"/>
            <a:chOff x="0" y="0"/>
            <a:chExt cx="2591141" cy="26205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1141" cy="2620526"/>
            </a:xfrm>
            <a:custGeom>
              <a:avLst/>
              <a:gdLst/>
              <a:ahLst/>
              <a:cxnLst/>
              <a:rect r="r" b="b" t="t" l="l"/>
              <a:pathLst>
                <a:path h="2620526" w="2591141">
                  <a:moveTo>
                    <a:pt x="78692" y="0"/>
                  </a:moveTo>
                  <a:lnTo>
                    <a:pt x="2512449" y="0"/>
                  </a:lnTo>
                  <a:cubicBezTo>
                    <a:pt x="2533320" y="0"/>
                    <a:pt x="2553335" y="8291"/>
                    <a:pt x="2568093" y="23048"/>
                  </a:cubicBezTo>
                  <a:cubicBezTo>
                    <a:pt x="2582850" y="37806"/>
                    <a:pt x="2591141" y="57822"/>
                    <a:pt x="2591141" y="78692"/>
                  </a:cubicBezTo>
                  <a:lnTo>
                    <a:pt x="2591141" y="2541834"/>
                  </a:lnTo>
                  <a:cubicBezTo>
                    <a:pt x="2591141" y="2585295"/>
                    <a:pt x="2555910" y="2620526"/>
                    <a:pt x="2512449" y="2620526"/>
                  </a:cubicBezTo>
                  <a:lnTo>
                    <a:pt x="78692" y="2620526"/>
                  </a:lnTo>
                  <a:cubicBezTo>
                    <a:pt x="57822" y="2620526"/>
                    <a:pt x="37806" y="2612236"/>
                    <a:pt x="23048" y="2597478"/>
                  </a:cubicBezTo>
                  <a:cubicBezTo>
                    <a:pt x="8291" y="2582720"/>
                    <a:pt x="0" y="2562705"/>
                    <a:pt x="0" y="2541834"/>
                  </a:cubicBezTo>
                  <a:lnTo>
                    <a:pt x="0" y="78692"/>
                  </a:lnTo>
                  <a:cubicBezTo>
                    <a:pt x="0" y="57822"/>
                    <a:pt x="8291" y="37806"/>
                    <a:pt x="23048" y="23048"/>
                  </a:cubicBezTo>
                  <a:cubicBezTo>
                    <a:pt x="37806" y="8291"/>
                    <a:pt x="57822" y="0"/>
                    <a:pt x="78692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591141" cy="2744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58626" y="8977602"/>
            <a:ext cx="1127893" cy="112789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l="-188" t="0" r="-188" b="0"/>
              </a:stretch>
            </a:blipFill>
          </p:spPr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152480" y="460126"/>
            <a:ext cx="9047796" cy="10890062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23227" y="109414"/>
            <a:ext cx="531078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Churn Reason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585347"/>
            <a:ext cx="678654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Total Number of Customers: 6687</a:t>
            </a:r>
          </a:p>
          <a:p>
            <a:pPr algn="just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Total Number of Churned Customers: 1796</a:t>
            </a:r>
          </a:p>
          <a:p>
            <a:pPr algn="just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Rate of Churned Customers: 26.86 %</a:t>
            </a:r>
          </a:p>
          <a:p>
            <a:pPr algn="just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The most cited reason was competitors, which is actionable insight for business</a:t>
            </a:r>
          </a:p>
          <a:p>
            <a:pPr algn="just" marL="0" indent="0" lvl="0">
              <a:lnSpc>
                <a:spcPts val="4079"/>
              </a:lnSpc>
            </a:pP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070132" y="3539481"/>
            <a:ext cx="7412890" cy="6644267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8693729" y="4387971"/>
            <a:ext cx="2800657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Churn Category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9258300"/>
          </a:xfrm>
          <a:custGeom>
            <a:avLst/>
            <a:gdLst/>
            <a:ahLst/>
            <a:cxnLst/>
            <a:rect r="r" b="b" t="t" l="l"/>
            <a:pathLst>
              <a:path h="9258300" w="18288000">
                <a:moveTo>
                  <a:pt x="0" y="0"/>
                </a:moveTo>
                <a:lnTo>
                  <a:pt x="18288000" y="0"/>
                </a:lnTo>
                <a:lnTo>
                  <a:pt x="1828800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5" t="0" r="-62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958626" y="8977602"/>
            <a:ext cx="1127893" cy="112789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>
                <a:alphaModFix amt="85000"/>
              </a:blip>
              <a:stretch>
                <a:fillRect l="-188" t="0" r="-188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4100758">
            <a:off x="2377450" y="-5669148"/>
            <a:ext cx="13156172" cy="21990556"/>
            <a:chOff x="0" y="0"/>
            <a:chExt cx="3465000" cy="57917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65000" cy="5791752"/>
            </a:xfrm>
            <a:custGeom>
              <a:avLst/>
              <a:gdLst/>
              <a:ahLst/>
              <a:cxnLst/>
              <a:rect r="r" b="b" t="t" l="l"/>
              <a:pathLst>
                <a:path h="5791752" w="3465000">
                  <a:moveTo>
                    <a:pt x="58846" y="0"/>
                  </a:moveTo>
                  <a:lnTo>
                    <a:pt x="3406154" y="0"/>
                  </a:lnTo>
                  <a:cubicBezTo>
                    <a:pt x="3438654" y="0"/>
                    <a:pt x="3465000" y="26346"/>
                    <a:pt x="3465000" y="58846"/>
                  </a:cubicBezTo>
                  <a:lnTo>
                    <a:pt x="3465000" y="5732905"/>
                  </a:lnTo>
                  <a:cubicBezTo>
                    <a:pt x="3465000" y="5765405"/>
                    <a:pt x="3438654" y="5791752"/>
                    <a:pt x="3406154" y="5791752"/>
                  </a:cubicBezTo>
                  <a:lnTo>
                    <a:pt x="58846" y="5791752"/>
                  </a:lnTo>
                  <a:cubicBezTo>
                    <a:pt x="26346" y="5791752"/>
                    <a:pt x="0" y="5765405"/>
                    <a:pt x="0" y="5732905"/>
                  </a:cubicBezTo>
                  <a:lnTo>
                    <a:pt x="0" y="58846"/>
                  </a:lnTo>
                  <a:cubicBezTo>
                    <a:pt x="0" y="26346"/>
                    <a:pt x="26346" y="0"/>
                    <a:pt x="58846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3465000" cy="59155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58626" y="8977602"/>
            <a:ext cx="1127893" cy="112789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l="-188" t="0" r="-188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23227" y="3945948"/>
            <a:ext cx="5900082" cy="6159547"/>
            <a:chOff x="0" y="0"/>
            <a:chExt cx="1553931" cy="16222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3931" cy="1622267"/>
            </a:xfrm>
            <a:custGeom>
              <a:avLst/>
              <a:gdLst/>
              <a:ahLst/>
              <a:cxnLst/>
              <a:rect r="r" b="b" t="t" l="l"/>
              <a:pathLst>
                <a:path h="1622267" w="1553931">
                  <a:moveTo>
                    <a:pt x="52487" y="0"/>
                  </a:moveTo>
                  <a:lnTo>
                    <a:pt x="1501444" y="0"/>
                  </a:lnTo>
                  <a:cubicBezTo>
                    <a:pt x="1515365" y="0"/>
                    <a:pt x="1528715" y="5530"/>
                    <a:pt x="1538558" y="15373"/>
                  </a:cubicBezTo>
                  <a:cubicBezTo>
                    <a:pt x="1548401" y="25216"/>
                    <a:pt x="1553931" y="38566"/>
                    <a:pt x="1553931" y="52487"/>
                  </a:cubicBezTo>
                  <a:lnTo>
                    <a:pt x="1553931" y="1569781"/>
                  </a:lnTo>
                  <a:cubicBezTo>
                    <a:pt x="1553931" y="1583701"/>
                    <a:pt x="1548401" y="1597051"/>
                    <a:pt x="1538558" y="1606894"/>
                  </a:cubicBezTo>
                  <a:cubicBezTo>
                    <a:pt x="1528715" y="1616738"/>
                    <a:pt x="1515365" y="1622267"/>
                    <a:pt x="1501444" y="1622267"/>
                  </a:cubicBezTo>
                  <a:lnTo>
                    <a:pt x="52487" y="1622267"/>
                  </a:lnTo>
                  <a:cubicBezTo>
                    <a:pt x="38566" y="1622267"/>
                    <a:pt x="25216" y="1616738"/>
                    <a:pt x="15373" y="1606894"/>
                  </a:cubicBezTo>
                  <a:cubicBezTo>
                    <a:pt x="5530" y="1597051"/>
                    <a:pt x="0" y="1583701"/>
                    <a:pt x="0" y="1569781"/>
                  </a:cubicBezTo>
                  <a:lnTo>
                    <a:pt x="0" y="52487"/>
                  </a:lnTo>
                  <a:cubicBezTo>
                    <a:pt x="0" y="38566"/>
                    <a:pt x="5530" y="25216"/>
                    <a:pt x="15373" y="15373"/>
                  </a:cubicBezTo>
                  <a:cubicBezTo>
                    <a:pt x="25216" y="5530"/>
                    <a:pt x="38566" y="0"/>
                    <a:pt x="524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553931" cy="1746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317290" y="3525093"/>
            <a:ext cx="6981116" cy="7178621"/>
          </a:xfrm>
          <a:prstGeom prst="rect">
            <a:avLst/>
          </a:prstGeom>
        </p:spPr>
      </p:pic>
      <p:sp>
        <p:nvSpPr>
          <p:cNvPr name="Freeform 11" id="11"/>
          <p:cNvSpPr/>
          <p:nvPr/>
        </p:nvSpPr>
        <p:spPr>
          <a:xfrm flipH="false" flipV="false" rot="0">
            <a:off x="6559220" y="805958"/>
            <a:ext cx="11245755" cy="5602778"/>
          </a:xfrm>
          <a:custGeom>
            <a:avLst/>
            <a:gdLst/>
            <a:ahLst/>
            <a:cxnLst/>
            <a:rect r="r" b="b" t="t" l="l"/>
            <a:pathLst>
              <a:path h="5602778" w="11245755">
                <a:moveTo>
                  <a:pt x="0" y="0"/>
                </a:moveTo>
                <a:lnTo>
                  <a:pt x="11245756" y="0"/>
                </a:lnTo>
                <a:lnTo>
                  <a:pt x="11245756" y="5602778"/>
                </a:lnTo>
                <a:lnTo>
                  <a:pt x="0" y="5602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58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3227" y="109414"/>
            <a:ext cx="531078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Contract Type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21730" y="0"/>
            <a:ext cx="4627349" cy="10287000"/>
            <a:chOff x="0" y="0"/>
            <a:chExt cx="121872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87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18726">
                  <a:moveTo>
                    <a:pt x="167308" y="0"/>
                  </a:moveTo>
                  <a:lnTo>
                    <a:pt x="1051418" y="0"/>
                  </a:lnTo>
                  <a:cubicBezTo>
                    <a:pt x="1143819" y="0"/>
                    <a:pt x="1218726" y="74906"/>
                    <a:pt x="1218726" y="167308"/>
                  </a:cubicBezTo>
                  <a:lnTo>
                    <a:pt x="1218726" y="2542025"/>
                  </a:lnTo>
                  <a:cubicBezTo>
                    <a:pt x="1218726" y="2586398"/>
                    <a:pt x="1201099" y="2628954"/>
                    <a:pt x="1169722" y="2660330"/>
                  </a:cubicBezTo>
                  <a:cubicBezTo>
                    <a:pt x="1138346" y="2691706"/>
                    <a:pt x="1095791" y="2709333"/>
                    <a:pt x="1051418" y="2709333"/>
                  </a:cubicBezTo>
                  <a:lnTo>
                    <a:pt x="167308" y="2709333"/>
                  </a:lnTo>
                  <a:cubicBezTo>
                    <a:pt x="74906" y="2709333"/>
                    <a:pt x="0" y="2634427"/>
                    <a:pt x="0" y="2542025"/>
                  </a:cubicBezTo>
                  <a:lnTo>
                    <a:pt x="0" y="167308"/>
                  </a:lnTo>
                  <a:cubicBezTo>
                    <a:pt x="0" y="122935"/>
                    <a:pt x="17627" y="80380"/>
                    <a:pt x="49003" y="49003"/>
                  </a:cubicBezTo>
                  <a:cubicBezTo>
                    <a:pt x="80380" y="17627"/>
                    <a:pt x="122935" y="0"/>
                    <a:pt x="167308" y="0"/>
                  </a:cubicBez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58626" y="8977602"/>
            <a:ext cx="1127893" cy="112789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l="-188" t="0" r="-188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091265" y="3002220"/>
            <a:ext cx="7196735" cy="4815938"/>
            <a:chOff x="0" y="0"/>
            <a:chExt cx="1659040" cy="11102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59039" cy="1110202"/>
            </a:xfrm>
            <a:custGeom>
              <a:avLst/>
              <a:gdLst/>
              <a:ahLst/>
              <a:cxnLst/>
              <a:rect r="r" b="b" t="t" l="l"/>
              <a:pathLst>
                <a:path h="1110202" w="1659039">
                  <a:moveTo>
                    <a:pt x="0" y="0"/>
                  </a:moveTo>
                  <a:lnTo>
                    <a:pt x="1659039" y="0"/>
                  </a:lnTo>
                  <a:lnTo>
                    <a:pt x="1659039" y="1110202"/>
                  </a:lnTo>
                  <a:lnTo>
                    <a:pt x="0" y="1110202"/>
                  </a:lnTo>
                  <a:close/>
                </a:path>
              </a:pathLst>
            </a:custGeom>
            <a:blipFill>
              <a:blip r:embed="rId3"/>
              <a:stretch>
                <a:fillRect l="-3641" t="0" r="-3641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90099" y="267628"/>
            <a:ext cx="631555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Feature Engineering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722716"/>
            <a:ext cx="10527757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Removed identifiers: customer id, phone number, etc.</a:t>
            </a:r>
          </a:p>
          <a:p>
            <a:pPr algn="l">
              <a:lnSpc>
                <a:spcPts val="4079"/>
              </a:lnSpc>
            </a:pP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Dropped high-missing explana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tion fields not used for prediction: state, etc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461560"/>
            <a:ext cx="10527757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One-Hot Encoding:</a:t>
            </a:r>
          </a:p>
          <a:p>
            <a:pPr algn="l" marL="1036320" indent="-345440" lvl="2">
              <a:lnSpc>
                <a:spcPts val="4079"/>
              </a:lnSpc>
              <a:buFont typeface="Arial"/>
              <a:buChar char="⚬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Converted categorical variables (e.g., contract type, intl plan) into numeric format using one-hot encoding.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Scaling:</a:t>
            </a:r>
          </a:p>
          <a:p>
            <a:pPr algn="l" marL="1036320" indent="-345440" lvl="2">
              <a:lnSpc>
                <a:spcPts val="4079"/>
              </a:lnSpc>
              <a:buFont typeface="Arial"/>
              <a:buChar char="⚬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Sta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ndardized numeric features to zero mean and unit variance.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853777"/>
            <a:ext cx="1052775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Converted churn label to a bin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ary factor: Yes vs No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914818"/>
            <a:ext cx="1052775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Dropped Irrelevant Columns: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724960"/>
            <a:ext cx="10527757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Transformed Features: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180832"/>
            <a:ext cx="10527757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Target Variable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787134">
            <a:off x="10148228" y="904929"/>
            <a:ext cx="11474856" cy="114748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DBE5EA">
                <a:alpha val="8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79375"/>
              <a:ext cx="711200" cy="530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707878" y="714009"/>
            <a:ext cx="4873302" cy="3788993"/>
          </a:xfrm>
          <a:custGeom>
            <a:avLst/>
            <a:gdLst/>
            <a:ahLst/>
            <a:cxnLst/>
            <a:rect r="r" b="b" t="t" l="l"/>
            <a:pathLst>
              <a:path h="3788993" w="4873302">
                <a:moveTo>
                  <a:pt x="0" y="0"/>
                </a:moveTo>
                <a:lnTo>
                  <a:pt x="4873302" y="0"/>
                </a:lnTo>
                <a:lnTo>
                  <a:pt x="4873302" y="3788993"/>
                </a:lnTo>
                <a:lnTo>
                  <a:pt x="0" y="37889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28700" y="4645827"/>
            <a:ext cx="5352697" cy="0"/>
          </a:xfrm>
          <a:prstGeom prst="line">
            <a:avLst/>
          </a:prstGeom>
          <a:ln cap="flat" w="57150">
            <a:solidFill>
              <a:srgbClr val="7994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4384" y="599709"/>
            <a:ext cx="4639598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Model Building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130693"/>
            <a:ext cx="4929009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Logistic Regression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Support Vector Machine (SVM)</a:t>
            </a:r>
          </a:p>
          <a:p>
            <a:pPr algn="just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Random Forest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4384" y="2583347"/>
            <a:ext cx="534822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Selected Algorithms: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958626" y="8977602"/>
            <a:ext cx="1127893" cy="112789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>
                <a:alphaModFix amt="85000"/>
              </a:blip>
              <a:stretch>
                <a:fillRect l="-188" t="0" r="-188" b="0"/>
              </a:stretch>
            </a:blipFill>
          </p:spPr>
        </p:sp>
      </p:grpSp>
      <p:sp>
        <p:nvSpPr>
          <p:cNvPr name="AutoShape 13" id="13"/>
          <p:cNvSpPr/>
          <p:nvPr/>
        </p:nvSpPr>
        <p:spPr>
          <a:xfrm>
            <a:off x="1024384" y="6480432"/>
            <a:ext cx="10177024" cy="0"/>
          </a:xfrm>
          <a:prstGeom prst="line">
            <a:avLst/>
          </a:prstGeom>
          <a:ln cap="flat" w="57150">
            <a:solidFill>
              <a:srgbClr val="7994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33016" y="5416767"/>
            <a:ext cx="10507869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Represent a balance between interpretability and predictive power.</a:t>
            </a:r>
          </a:p>
          <a:p>
            <a:pPr algn="just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Allow meaningful comparison of linear vs. non-linear approaches.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869420"/>
            <a:ext cx="534822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Why These Models?</a:t>
            </a:r>
          </a:p>
        </p:txBody>
      </p:sp>
      <p:sp>
        <p:nvSpPr>
          <p:cNvPr name="AutoShape 16" id="16"/>
          <p:cNvSpPr/>
          <p:nvPr/>
        </p:nvSpPr>
        <p:spPr>
          <a:xfrm flipH="true">
            <a:off x="1033016" y="9201150"/>
            <a:ext cx="10164076" cy="28575"/>
          </a:xfrm>
          <a:prstGeom prst="line">
            <a:avLst/>
          </a:prstGeom>
          <a:ln cap="flat" w="57150">
            <a:solidFill>
              <a:srgbClr val="7994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033016" y="7109460"/>
            <a:ext cx="10164076" cy="2091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Used tidymodels to streamline model creation, tuning, and evaluation.</a:t>
            </a:r>
          </a:p>
          <a:p>
            <a:pPr algn="just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Built separate workflows for each model using the same preprocessing recipe.</a:t>
            </a:r>
          </a:p>
          <a:p>
            <a:pPr algn="just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33016" y="6575682"/>
            <a:ext cx="534822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Workflow: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84385" y="985559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6761" y="2456695"/>
            <a:ext cx="5385764" cy="7345725"/>
            <a:chOff x="0" y="0"/>
            <a:chExt cx="1418473" cy="19346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8473" cy="1934676"/>
            </a:xfrm>
            <a:custGeom>
              <a:avLst/>
              <a:gdLst/>
              <a:ahLst/>
              <a:cxnLst/>
              <a:rect r="r" b="b" t="t" l="l"/>
              <a:pathLst>
                <a:path h="1934676" w="1418473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861365"/>
                  </a:lnTo>
                  <a:cubicBezTo>
                    <a:pt x="1418473" y="1880808"/>
                    <a:pt x="1410749" y="1899456"/>
                    <a:pt x="1397000" y="1913204"/>
                  </a:cubicBezTo>
                  <a:cubicBezTo>
                    <a:pt x="1383252" y="1926953"/>
                    <a:pt x="1364605" y="1934676"/>
                    <a:pt x="1345161" y="1934676"/>
                  </a:cubicBezTo>
                  <a:lnTo>
                    <a:pt x="73311" y="1934676"/>
                  </a:lnTo>
                  <a:cubicBezTo>
                    <a:pt x="32823" y="1934676"/>
                    <a:pt x="0" y="1901854"/>
                    <a:pt x="0" y="1861365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418473" cy="2058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51118" y="2456695"/>
            <a:ext cx="5385764" cy="7345725"/>
            <a:chOff x="0" y="0"/>
            <a:chExt cx="1418473" cy="19346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18473" cy="1934676"/>
            </a:xfrm>
            <a:custGeom>
              <a:avLst/>
              <a:gdLst/>
              <a:ahLst/>
              <a:cxnLst/>
              <a:rect r="r" b="b" t="t" l="l"/>
              <a:pathLst>
                <a:path h="1934676" w="1418473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861365"/>
                  </a:lnTo>
                  <a:cubicBezTo>
                    <a:pt x="1418473" y="1880808"/>
                    <a:pt x="1410749" y="1899456"/>
                    <a:pt x="1397000" y="1913204"/>
                  </a:cubicBezTo>
                  <a:cubicBezTo>
                    <a:pt x="1383252" y="1926953"/>
                    <a:pt x="1364605" y="1934676"/>
                    <a:pt x="1345161" y="1934676"/>
                  </a:cubicBezTo>
                  <a:lnTo>
                    <a:pt x="73311" y="1934676"/>
                  </a:lnTo>
                  <a:cubicBezTo>
                    <a:pt x="32823" y="1934676"/>
                    <a:pt x="0" y="1901854"/>
                    <a:pt x="0" y="1861365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solidFill>
              <a:srgbClr val="A9BEC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1418473" cy="2058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15475" y="2456695"/>
            <a:ext cx="5385764" cy="7345725"/>
            <a:chOff x="0" y="0"/>
            <a:chExt cx="1418473" cy="19346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18473" cy="1934676"/>
            </a:xfrm>
            <a:custGeom>
              <a:avLst/>
              <a:gdLst/>
              <a:ahLst/>
              <a:cxnLst/>
              <a:rect r="r" b="b" t="t" l="l"/>
              <a:pathLst>
                <a:path h="1934676" w="1418473">
                  <a:moveTo>
                    <a:pt x="73311" y="0"/>
                  </a:moveTo>
                  <a:lnTo>
                    <a:pt x="1345161" y="0"/>
                  </a:lnTo>
                  <a:cubicBezTo>
                    <a:pt x="1364605" y="0"/>
                    <a:pt x="1383252" y="7724"/>
                    <a:pt x="1397000" y="21472"/>
                  </a:cubicBezTo>
                  <a:cubicBezTo>
                    <a:pt x="1410749" y="35221"/>
                    <a:pt x="1418473" y="53868"/>
                    <a:pt x="1418473" y="73311"/>
                  </a:cubicBezTo>
                  <a:lnTo>
                    <a:pt x="1418473" y="1861365"/>
                  </a:lnTo>
                  <a:cubicBezTo>
                    <a:pt x="1418473" y="1880808"/>
                    <a:pt x="1410749" y="1899456"/>
                    <a:pt x="1397000" y="1913204"/>
                  </a:cubicBezTo>
                  <a:cubicBezTo>
                    <a:pt x="1383252" y="1926953"/>
                    <a:pt x="1364605" y="1934676"/>
                    <a:pt x="1345161" y="1934676"/>
                  </a:cubicBezTo>
                  <a:lnTo>
                    <a:pt x="73311" y="1934676"/>
                  </a:lnTo>
                  <a:cubicBezTo>
                    <a:pt x="32823" y="1934676"/>
                    <a:pt x="0" y="1901854"/>
                    <a:pt x="0" y="1861365"/>
                  </a:cubicBezTo>
                  <a:lnTo>
                    <a:pt x="0" y="73311"/>
                  </a:lnTo>
                  <a:cubicBezTo>
                    <a:pt x="0" y="53868"/>
                    <a:pt x="7724" y="35221"/>
                    <a:pt x="21472" y="21472"/>
                  </a:cubicBezTo>
                  <a:cubicBezTo>
                    <a:pt x="35221" y="7724"/>
                    <a:pt x="53868" y="0"/>
                    <a:pt x="73311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418473" cy="2058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767060" y="9906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6958626" y="8977602"/>
            <a:ext cx="1127893" cy="112789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l="-188" t="0" r="-188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507597" y="2584641"/>
            <a:ext cx="2144092" cy="2200095"/>
          </a:xfrm>
          <a:custGeom>
            <a:avLst/>
            <a:gdLst/>
            <a:ahLst/>
            <a:cxnLst/>
            <a:rect r="r" b="b" t="t" l="l"/>
            <a:pathLst>
              <a:path h="2200095" w="2144092">
                <a:moveTo>
                  <a:pt x="0" y="0"/>
                </a:moveTo>
                <a:lnTo>
                  <a:pt x="2144092" y="0"/>
                </a:lnTo>
                <a:lnTo>
                  <a:pt x="2144092" y="2200095"/>
                </a:lnTo>
                <a:lnTo>
                  <a:pt x="0" y="22000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938577" y="2584641"/>
            <a:ext cx="2115571" cy="2379477"/>
          </a:xfrm>
          <a:custGeom>
            <a:avLst/>
            <a:gdLst/>
            <a:ahLst/>
            <a:cxnLst/>
            <a:rect r="r" b="b" t="t" l="l"/>
            <a:pathLst>
              <a:path h="2379477" w="2115571">
                <a:moveTo>
                  <a:pt x="0" y="0"/>
                </a:moveTo>
                <a:lnTo>
                  <a:pt x="2115571" y="0"/>
                </a:lnTo>
                <a:lnTo>
                  <a:pt x="2115571" y="2379477"/>
                </a:lnTo>
                <a:lnTo>
                  <a:pt x="0" y="23794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565501" y="2584641"/>
            <a:ext cx="2285712" cy="2248309"/>
          </a:xfrm>
          <a:custGeom>
            <a:avLst/>
            <a:gdLst/>
            <a:ahLst/>
            <a:cxnLst/>
            <a:rect r="r" b="b" t="t" l="l"/>
            <a:pathLst>
              <a:path h="2248309" w="2285712">
                <a:moveTo>
                  <a:pt x="0" y="0"/>
                </a:moveTo>
                <a:lnTo>
                  <a:pt x="2285711" y="0"/>
                </a:lnTo>
                <a:lnTo>
                  <a:pt x="2285711" y="2248309"/>
                </a:lnTo>
                <a:lnTo>
                  <a:pt x="0" y="22483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599709"/>
            <a:ext cx="81153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Hyperparameter Tuning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6761" y="6005733"/>
            <a:ext cx="5101887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Used 5-fold cross-validation on training data.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Stratified sampling to preserve churn rate in each fold.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5382" y="5262480"/>
            <a:ext cx="510188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Cross-Validation Strategy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45419" y="6005733"/>
            <a:ext cx="5101887" cy="357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Logistic Regression: penalty, mixture.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SVM: cost, rbf_sigma (controls decision boundary flexibility).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Random Forest: mtry, min_n (feature subset size &amp; min node size).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93057" y="5262480"/>
            <a:ext cx="510188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Tuning Grids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57413" y="6005733"/>
            <a:ext cx="4496348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Evaluation Metric: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ROC AUC ch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osen over accuracy due to class imbalance (~27% churn)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60732" y="5262480"/>
            <a:ext cx="510188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Implementation Plan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04001" y="116471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64" y="2526857"/>
            <a:ext cx="11301259" cy="2231999"/>
          </a:xfrm>
          <a:custGeom>
            <a:avLst/>
            <a:gdLst/>
            <a:ahLst/>
            <a:cxnLst/>
            <a:rect r="r" b="b" t="t" l="l"/>
            <a:pathLst>
              <a:path h="2231999" w="11301259">
                <a:moveTo>
                  <a:pt x="0" y="0"/>
                </a:moveTo>
                <a:lnTo>
                  <a:pt x="11301259" y="0"/>
                </a:lnTo>
                <a:lnTo>
                  <a:pt x="11301259" y="2231999"/>
                </a:lnTo>
                <a:lnTo>
                  <a:pt x="0" y="2231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05292" y="5211293"/>
            <a:ext cx="11301259" cy="2175492"/>
          </a:xfrm>
          <a:custGeom>
            <a:avLst/>
            <a:gdLst/>
            <a:ahLst/>
            <a:cxnLst/>
            <a:rect r="r" b="b" t="t" l="l"/>
            <a:pathLst>
              <a:path h="2175492" w="11301259">
                <a:moveTo>
                  <a:pt x="0" y="0"/>
                </a:moveTo>
                <a:lnTo>
                  <a:pt x="11301259" y="0"/>
                </a:lnTo>
                <a:lnTo>
                  <a:pt x="11301259" y="2175493"/>
                </a:lnTo>
                <a:lnTo>
                  <a:pt x="0" y="21754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363740" y="7839223"/>
            <a:ext cx="11301259" cy="2217872"/>
          </a:xfrm>
          <a:custGeom>
            <a:avLst/>
            <a:gdLst/>
            <a:ahLst/>
            <a:cxnLst/>
            <a:rect r="r" b="b" t="t" l="l"/>
            <a:pathLst>
              <a:path h="2217872" w="11301259">
                <a:moveTo>
                  <a:pt x="0" y="0"/>
                </a:moveTo>
                <a:lnTo>
                  <a:pt x="11301259" y="0"/>
                </a:lnTo>
                <a:lnTo>
                  <a:pt x="11301259" y="2217872"/>
                </a:lnTo>
                <a:lnTo>
                  <a:pt x="0" y="22178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1028764" y="4758856"/>
            <a:ext cx="11301137" cy="1905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421119" y="5211293"/>
            <a:ext cx="11185310" cy="1905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3421184" y="7424886"/>
            <a:ext cx="11185310" cy="1905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5421715" y="7715398"/>
            <a:ext cx="11185310" cy="1905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5363805" y="10048345"/>
            <a:ext cx="11185310" cy="1905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144649" y="2403032"/>
            <a:ext cx="11185310" cy="1905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028764" y="3136457"/>
            <a:ext cx="11193919" cy="286696"/>
            <a:chOff x="0" y="0"/>
            <a:chExt cx="2948193" cy="755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48193" cy="75508"/>
            </a:xfrm>
            <a:custGeom>
              <a:avLst/>
              <a:gdLst/>
              <a:ahLst/>
              <a:cxnLst/>
              <a:rect r="r" b="b" t="t" l="l"/>
              <a:pathLst>
                <a:path h="75508" w="2948193">
                  <a:moveTo>
                    <a:pt x="0" y="0"/>
                  </a:moveTo>
                  <a:lnTo>
                    <a:pt x="2948193" y="0"/>
                  </a:lnTo>
                  <a:lnTo>
                    <a:pt x="2948193" y="75508"/>
                  </a:lnTo>
                  <a:lnTo>
                    <a:pt x="0" y="75508"/>
                  </a:lnTo>
                  <a:close/>
                </a:path>
              </a:pathLst>
            </a:custGeom>
            <a:solidFill>
              <a:srgbClr val="7ED957">
                <a:alpha val="4000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23825"/>
              <a:ext cx="2948193" cy="19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358962" y="5804182"/>
            <a:ext cx="11193919" cy="286696"/>
            <a:chOff x="0" y="0"/>
            <a:chExt cx="2948193" cy="755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48193" cy="75508"/>
            </a:xfrm>
            <a:custGeom>
              <a:avLst/>
              <a:gdLst/>
              <a:ahLst/>
              <a:cxnLst/>
              <a:rect r="r" b="b" t="t" l="l"/>
              <a:pathLst>
                <a:path h="75508" w="2948193">
                  <a:moveTo>
                    <a:pt x="0" y="0"/>
                  </a:moveTo>
                  <a:lnTo>
                    <a:pt x="2948193" y="0"/>
                  </a:lnTo>
                  <a:lnTo>
                    <a:pt x="2948193" y="75508"/>
                  </a:lnTo>
                  <a:lnTo>
                    <a:pt x="0" y="75508"/>
                  </a:lnTo>
                  <a:close/>
                </a:path>
              </a:pathLst>
            </a:custGeom>
            <a:solidFill>
              <a:srgbClr val="7ED957">
                <a:alpha val="4000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23825"/>
              <a:ext cx="2948193" cy="19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355195" y="8305948"/>
            <a:ext cx="11193919" cy="286696"/>
            <a:chOff x="0" y="0"/>
            <a:chExt cx="2948193" cy="755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948193" cy="75508"/>
            </a:xfrm>
            <a:custGeom>
              <a:avLst/>
              <a:gdLst/>
              <a:ahLst/>
              <a:cxnLst/>
              <a:rect r="r" b="b" t="t" l="l"/>
              <a:pathLst>
                <a:path h="75508" w="2948193">
                  <a:moveTo>
                    <a:pt x="0" y="0"/>
                  </a:moveTo>
                  <a:lnTo>
                    <a:pt x="2948193" y="0"/>
                  </a:lnTo>
                  <a:lnTo>
                    <a:pt x="2948193" y="75508"/>
                  </a:lnTo>
                  <a:lnTo>
                    <a:pt x="0" y="75508"/>
                  </a:lnTo>
                  <a:close/>
                </a:path>
              </a:pathLst>
            </a:custGeom>
            <a:solidFill>
              <a:srgbClr val="7ED957">
                <a:alpha val="4000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23825"/>
              <a:ext cx="2948193" cy="199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958626" y="8977602"/>
            <a:ext cx="1127893" cy="1127893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>
                <a:alphaModFix amt="85000"/>
              </a:blip>
              <a:stretch>
                <a:fillRect l="-188" t="0" r="-188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-718014" y="6929078"/>
            <a:ext cx="4402821" cy="440282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40616" y="82374"/>
                  </a:lnTo>
                  <a:lnTo>
                    <a:pt x="693768" y="119032"/>
                  </a:lnTo>
                  <a:lnTo>
                    <a:pt x="730427" y="272184"/>
                  </a:lnTo>
                  <a:lnTo>
                    <a:pt x="812800" y="406400"/>
                  </a:lnTo>
                  <a:lnTo>
                    <a:pt x="730427" y="540616"/>
                  </a:lnTo>
                  <a:lnTo>
                    <a:pt x="693768" y="693768"/>
                  </a:lnTo>
                  <a:lnTo>
                    <a:pt x="540616" y="730427"/>
                  </a:lnTo>
                  <a:lnTo>
                    <a:pt x="406400" y="812800"/>
                  </a:lnTo>
                  <a:lnTo>
                    <a:pt x="272184" y="730427"/>
                  </a:lnTo>
                  <a:lnTo>
                    <a:pt x="119032" y="693768"/>
                  </a:lnTo>
                  <a:lnTo>
                    <a:pt x="82374" y="540616"/>
                  </a:lnTo>
                  <a:lnTo>
                    <a:pt x="0" y="406400"/>
                  </a:lnTo>
                  <a:lnTo>
                    <a:pt x="82374" y="272184"/>
                  </a:lnTo>
                  <a:lnTo>
                    <a:pt x="119032" y="119032"/>
                  </a:lnTo>
                  <a:lnTo>
                    <a:pt x="272184" y="8237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BE5EA">
                <a:alpha val="29804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39700" y="15875"/>
              <a:ext cx="533400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6035321" y="-2316654"/>
            <a:ext cx="4402821" cy="440282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40616" y="82374"/>
                  </a:lnTo>
                  <a:lnTo>
                    <a:pt x="693768" y="119032"/>
                  </a:lnTo>
                  <a:lnTo>
                    <a:pt x="730427" y="272184"/>
                  </a:lnTo>
                  <a:lnTo>
                    <a:pt x="812800" y="406400"/>
                  </a:lnTo>
                  <a:lnTo>
                    <a:pt x="730427" y="540616"/>
                  </a:lnTo>
                  <a:lnTo>
                    <a:pt x="693768" y="693768"/>
                  </a:lnTo>
                  <a:lnTo>
                    <a:pt x="540616" y="730427"/>
                  </a:lnTo>
                  <a:lnTo>
                    <a:pt x="406400" y="812800"/>
                  </a:lnTo>
                  <a:lnTo>
                    <a:pt x="272184" y="730427"/>
                  </a:lnTo>
                  <a:lnTo>
                    <a:pt x="119032" y="693768"/>
                  </a:lnTo>
                  <a:lnTo>
                    <a:pt x="82374" y="540616"/>
                  </a:lnTo>
                  <a:lnTo>
                    <a:pt x="0" y="406400"/>
                  </a:lnTo>
                  <a:lnTo>
                    <a:pt x="82374" y="272184"/>
                  </a:lnTo>
                  <a:lnTo>
                    <a:pt x="119032" y="119032"/>
                  </a:lnTo>
                  <a:lnTo>
                    <a:pt x="272184" y="8237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BE5EA">
                <a:alpha val="89804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39700" y="15875"/>
              <a:ext cx="533400" cy="657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28700" y="599709"/>
            <a:ext cx="5585112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Model Comparison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952155" y="1807402"/>
            <a:ext cx="339724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Logistic Regression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382604" y="7108021"/>
            <a:ext cx="2703914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Random Forest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270276" y="4615663"/>
            <a:ext cx="93028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SVM</a:t>
            </a:r>
          </a:p>
        </p:txBody>
      </p:sp>
      <p:graphicFrame>
        <p:nvGraphicFramePr>
          <p:cNvPr name="Table 33" id="33"/>
          <p:cNvGraphicFramePr>
            <a:graphicFrameLocks noGrp="true"/>
          </p:cNvGraphicFramePr>
          <p:nvPr/>
        </p:nvGraphicFramePr>
        <p:xfrm>
          <a:off x="180384" y="7703169"/>
          <a:ext cx="2945630" cy="2489981"/>
        </p:xfrm>
        <a:graphic>
          <a:graphicData uri="http://schemas.openxmlformats.org/drawingml/2006/table">
            <a:tbl>
              <a:tblPr/>
              <a:tblGrid>
                <a:gridCol w="1472815"/>
                <a:gridCol w="1472815"/>
              </a:tblGrid>
              <a:tr h="8299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0.9067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99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0.9150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99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Quicksand Bold"/>
                          <a:ea typeface="Quicksand Bold"/>
                          <a:cs typeface="Quicksand Bold"/>
                          <a:sym typeface="Quicksand Bold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0.9617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58626" y="8977602"/>
            <a:ext cx="1127893" cy="112789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l="-188" t="0" r="-18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82170" y="268766"/>
            <a:ext cx="15754566" cy="9724251"/>
            <a:chOff x="0" y="0"/>
            <a:chExt cx="4149351" cy="256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49351" cy="2561120"/>
            </a:xfrm>
            <a:custGeom>
              <a:avLst/>
              <a:gdLst/>
              <a:ahLst/>
              <a:cxnLst/>
              <a:rect r="r" b="b" t="t" l="l"/>
              <a:pathLst>
                <a:path h="2561120" w="4149351">
                  <a:moveTo>
                    <a:pt x="49141" y="0"/>
                  </a:moveTo>
                  <a:lnTo>
                    <a:pt x="4100210" y="0"/>
                  </a:lnTo>
                  <a:cubicBezTo>
                    <a:pt x="4113243" y="0"/>
                    <a:pt x="4125742" y="5177"/>
                    <a:pt x="4134958" y="14393"/>
                  </a:cubicBezTo>
                  <a:cubicBezTo>
                    <a:pt x="4144173" y="23609"/>
                    <a:pt x="4149351" y="36108"/>
                    <a:pt x="4149351" y="49141"/>
                  </a:cubicBezTo>
                  <a:lnTo>
                    <a:pt x="4149351" y="2511979"/>
                  </a:lnTo>
                  <a:cubicBezTo>
                    <a:pt x="4149351" y="2525012"/>
                    <a:pt x="4144173" y="2537511"/>
                    <a:pt x="4134958" y="2546727"/>
                  </a:cubicBezTo>
                  <a:cubicBezTo>
                    <a:pt x="4125742" y="2555942"/>
                    <a:pt x="4113243" y="2561120"/>
                    <a:pt x="4100210" y="2561120"/>
                  </a:cubicBezTo>
                  <a:lnTo>
                    <a:pt x="49141" y="2561120"/>
                  </a:lnTo>
                  <a:cubicBezTo>
                    <a:pt x="22001" y="2561120"/>
                    <a:pt x="0" y="2539118"/>
                    <a:pt x="0" y="2511979"/>
                  </a:cubicBezTo>
                  <a:lnTo>
                    <a:pt x="0" y="49141"/>
                  </a:lnTo>
                  <a:cubicBezTo>
                    <a:pt x="0" y="36108"/>
                    <a:pt x="5177" y="23609"/>
                    <a:pt x="14393" y="14393"/>
                  </a:cubicBezTo>
                  <a:cubicBezTo>
                    <a:pt x="23609" y="5177"/>
                    <a:pt x="36108" y="0"/>
                    <a:pt x="49141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3825"/>
              <a:ext cx="4149351" cy="2684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28322" y="819214"/>
            <a:ext cx="14013890" cy="8648572"/>
          </a:xfrm>
          <a:custGeom>
            <a:avLst/>
            <a:gdLst/>
            <a:ahLst/>
            <a:cxnLst/>
            <a:rect r="r" b="b" t="t" l="l"/>
            <a:pathLst>
              <a:path h="8648572" w="14013890">
                <a:moveTo>
                  <a:pt x="0" y="0"/>
                </a:moveTo>
                <a:lnTo>
                  <a:pt x="14013890" y="0"/>
                </a:lnTo>
                <a:lnTo>
                  <a:pt x="14013890" y="8648572"/>
                </a:lnTo>
                <a:lnTo>
                  <a:pt x="0" y="8648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314" y="1435504"/>
            <a:ext cx="9056686" cy="5589269"/>
          </a:xfrm>
          <a:custGeom>
            <a:avLst/>
            <a:gdLst/>
            <a:ahLst/>
            <a:cxnLst/>
            <a:rect r="r" b="b" t="t" l="l"/>
            <a:pathLst>
              <a:path h="5589269" w="9056686">
                <a:moveTo>
                  <a:pt x="0" y="0"/>
                </a:moveTo>
                <a:lnTo>
                  <a:pt x="9056686" y="0"/>
                </a:lnTo>
                <a:lnTo>
                  <a:pt x="9056686" y="5589269"/>
                </a:lnTo>
                <a:lnTo>
                  <a:pt x="0" y="55892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26113" y="5046773"/>
            <a:ext cx="8960406" cy="5240227"/>
          </a:xfrm>
          <a:custGeom>
            <a:avLst/>
            <a:gdLst/>
            <a:ahLst/>
            <a:cxnLst/>
            <a:rect r="r" b="b" t="t" l="l"/>
            <a:pathLst>
              <a:path h="5240227" w="8960406">
                <a:moveTo>
                  <a:pt x="0" y="0"/>
                </a:moveTo>
                <a:lnTo>
                  <a:pt x="8960406" y="0"/>
                </a:lnTo>
                <a:lnTo>
                  <a:pt x="8960406" y="5240227"/>
                </a:lnTo>
                <a:lnTo>
                  <a:pt x="0" y="5240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4" t="-666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958626" y="8977602"/>
            <a:ext cx="1127893" cy="112789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>
                <a:alphaModFix amt="15000"/>
              </a:blip>
              <a:stretch>
                <a:fillRect l="-188" t="0" r="-188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314" y="51497"/>
            <a:ext cx="81153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Global Model Explanations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16557" y="1368829"/>
            <a:ext cx="534822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Variable Importance Plot (VIP)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54385" y="7952457"/>
            <a:ext cx="534822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Partial Dependence Plot (PDP)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54385" y="8541424"/>
            <a:ext cx="5101887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Showing the effect of a single feature prediction.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16557" y="2027383"/>
            <a:ext cx="534822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Ranked features by their contribution to churn prediction.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224880" y="-3587562"/>
            <a:ext cx="9838239" cy="17462124"/>
            <a:chOff x="0" y="0"/>
            <a:chExt cx="2591141" cy="45990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1141" cy="4599078"/>
            </a:xfrm>
            <a:custGeom>
              <a:avLst/>
              <a:gdLst/>
              <a:ahLst/>
              <a:cxnLst/>
              <a:rect r="r" b="b" t="t" l="l"/>
              <a:pathLst>
                <a:path h="4599078" w="2591141">
                  <a:moveTo>
                    <a:pt x="39346" y="0"/>
                  </a:moveTo>
                  <a:lnTo>
                    <a:pt x="2551795" y="0"/>
                  </a:lnTo>
                  <a:cubicBezTo>
                    <a:pt x="2562230" y="0"/>
                    <a:pt x="2572238" y="4145"/>
                    <a:pt x="2579617" y="11524"/>
                  </a:cubicBezTo>
                  <a:cubicBezTo>
                    <a:pt x="2586996" y="18903"/>
                    <a:pt x="2591141" y="28911"/>
                    <a:pt x="2591141" y="39346"/>
                  </a:cubicBezTo>
                  <a:lnTo>
                    <a:pt x="2591141" y="4559732"/>
                  </a:lnTo>
                  <a:cubicBezTo>
                    <a:pt x="2591141" y="4570167"/>
                    <a:pt x="2586996" y="4580175"/>
                    <a:pt x="2579617" y="4587554"/>
                  </a:cubicBezTo>
                  <a:cubicBezTo>
                    <a:pt x="2572238" y="4594932"/>
                    <a:pt x="2562230" y="4599078"/>
                    <a:pt x="2551795" y="4599078"/>
                  </a:cubicBezTo>
                  <a:lnTo>
                    <a:pt x="39346" y="4599078"/>
                  </a:lnTo>
                  <a:cubicBezTo>
                    <a:pt x="28911" y="4599078"/>
                    <a:pt x="18903" y="4594932"/>
                    <a:pt x="11524" y="4587554"/>
                  </a:cubicBezTo>
                  <a:cubicBezTo>
                    <a:pt x="4145" y="4580175"/>
                    <a:pt x="0" y="4570167"/>
                    <a:pt x="0" y="4559732"/>
                  </a:cubicBezTo>
                  <a:lnTo>
                    <a:pt x="0" y="39346"/>
                  </a:lnTo>
                  <a:cubicBezTo>
                    <a:pt x="0" y="28911"/>
                    <a:pt x="4145" y="18903"/>
                    <a:pt x="11524" y="11524"/>
                  </a:cubicBezTo>
                  <a:cubicBezTo>
                    <a:pt x="18903" y="4145"/>
                    <a:pt x="28911" y="0"/>
                    <a:pt x="39346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591141" cy="4722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835214" y="9791534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767060" y="561108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6958626" y="8977602"/>
            <a:ext cx="1127893" cy="112789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l="-188" t="0" r="-188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091834" y="4513810"/>
            <a:ext cx="1910846" cy="1907081"/>
          </a:xfrm>
          <a:custGeom>
            <a:avLst/>
            <a:gdLst/>
            <a:ahLst/>
            <a:cxnLst/>
            <a:rect r="r" b="b" t="t" l="l"/>
            <a:pathLst>
              <a:path h="1907081" w="1910846">
                <a:moveTo>
                  <a:pt x="0" y="0"/>
                </a:moveTo>
                <a:lnTo>
                  <a:pt x="1910846" y="0"/>
                </a:lnTo>
                <a:lnTo>
                  <a:pt x="1910846" y="1907080"/>
                </a:lnTo>
                <a:lnTo>
                  <a:pt x="0" y="1907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37118" y="2295082"/>
            <a:ext cx="6978781" cy="3387262"/>
          </a:xfrm>
          <a:custGeom>
            <a:avLst/>
            <a:gdLst/>
            <a:ahLst/>
            <a:cxnLst/>
            <a:rect r="r" b="b" t="t" l="l"/>
            <a:pathLst>
              <a:path h="3387262" w="6978781">
                <a:moveTo>
                  <a:pt x="0" y="0"/>
                </a:moveTo>
                <a:lnTo>
                  <a:pt x="6978782" y="0"/>
                </a:lnTo>
                <a:lnTo>
                  <a:pt x="6978782" y="3387262"/>
                </a:lnTo>
                <a:lnTo>
                  <a:pt x="0" y="33872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329" r="-526" b="-48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278614" y="2295082"/>
            <a:ext cx="6978781" cy="3387262"/>
          </a:xfrm>
          <a:custGeom>
            <a:avLst/>
            <a:gdLst/>
            <a:ahLst/>
            <a:cxnLst/>
            <a:rect r="r" b="b" t="t" l="l"/>
            <a:pathLst>
              <a:path h="3387262" w="6978781">
                <a:moveTo>
                  <a:pt x="0" y="0"/>
                </a:moveTo>
                <a:lnTo>
                  <a:pt x="6978781" y="0"/>
                </a:lnTo>
                <a:lnTo>
                  <a:pt x="6978781" y="3387262"/>
                </a:lnTo>
                <a:lnTo>
                  <a:pt x="0" y="33872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7337" r="-3906" b="-4779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837118" y="5871038"/>
            <a:ext cx="6978781" cy="3387262"/>
          </a:xfrm>
          <a:custGeom>
            <a:avLst/>
            <a:gdLst/>
            <a:ahLst/>
            <a:cxnLst/>
            <a:rect r="r" b="b" t="t" l="l"/>
            <a:pathLst>
              <a:path h="3387262" w="6978781">
                <a:moveTo>
                  <a:pt x="0" y="0"/>
                </a:moveTo>
                <a:lnTo>
                  <a:pt x="6978782" y="0"/>
                </a:lnTo>
                <a:lnTo>
                  <a:pt x="6978782" y="3387262"/>
                </a:lnTo>
                <a:lnTo>
                  <a:pt x="0" y="3387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7304" r="-6661" b="-831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278614" y="5871038"/>
            <a:ext cx="6978781" cy="3387262"/>
          </a:xfrm>
          <a:custGeom>
            <a:avLst/>
            <a:gdLst/>
            <a:ahLst/>
            <a:cxnLst/>
            <a:rect r="r" b="b" t="t" l="l"/>
            <a:pathLst>
              <a:path h="3387262" w="6978781">
                <a:moveTo>
                  <a:pt x="0" y="0"/>
                </a:moveTo>
                <a:lnTo>
                  <a:pt x="6978781" y="0"/>
                </a:lnTo>
                <a:lnTo>
                  <a:pt x="6978781" y="3387262"/>
                </a:lnTo>
                <a:lnTo>
                  <a:pt x="0" y="33872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801" t="-27627" r="-1943" b="-428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25603" y="152034"/>
            <a:ext cx="948074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Local Explanations with LIME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136207"/>
            <a:ext cx="16230600" cy="103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sz="24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LIME generates a simplified model around a single data point to explain why the model made a specific decision, show which features influenced the churn prediction for individual customer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2316" y="292926"/>
            <a:ext cx="16940256" cy="9812569"/>
            <a:chOff x="0" y="0"/>
            <a:chExt cx="4461631" cy="25843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1631" cy="2584380"/>
            </a:xfrm>
            <a:custGeom>
              <a:avLst/>
              <a:gdLst/>
              <a:ahLst/>
              <a:cxnLst/>
              <a:rect r="r" b="b" t="t" l="l"/>
              <a:pathLst>
                <a:path h="2584380" w="4461631">
                  <a:moveTo>
                    <a:pt x="45701" y="0"/>
                  </a:moveTo>
                  <a:lnTo>
                    <a:pt x="4415930" y="0"/>
                  </a:lnTo>
                  <a:cubicBezTo>
                    <a:pt x="4441170" y="0"/>
                    <a:pt x="4461631" y="20461"/>
                    <a:pt x="4461631" y="45701"/>
                  </a:cubicBezTo>
                  <a:lnTo>
                    <a:pt x="4461631" y="2538679"/>
                  </a:lnTo>
                  <a:cubicBezTo>
                    <a:pt x="4461631" y="2550800"/>
                    <a:pt x="4456816" y="2562424"/>
                    <a:pt x="4448246" y="2570995"/>
                  </a:cubicBezTo>
                  <a:cubicBezTo>
                    <a:pt x="4439675" y="2579565"/>
                    <a:pt x="4428051" y="2584380"/>
                    <a:pt x="4415930" y="2584380"/>
                  </a:cubicBezTo>
                  <a:lnTo>
                    <a:pt x="45701" y="2584380"/>
                  </a:lnTo>
                  <a:cubicBezTo>
                    <a:pt x="20461" y="2584380"/>
                    <a:pt x="0" y="2563919"/>
                    <a:pt x="0" y="2538679"/>
                  </a:cubicBezTo>
                  <a:lnTo>
                    <a:pt x="0" y="45701"/>
                  </a:lnTo>
                  <a:cubicBezTo>
                    <a:pt x="0" y="33581"/>
                    <a:pt x="4815" y="21956"/>
                    <a:pt x="13386" y="13386"/>
                  </a:cubicBezTo>
                  <a:cubicBezTo>
                    <a:pt x="21956" y="4815"/>
                    <a:pt x="33581" y="0"/>
                    <a:pt x="45701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4461631" cy="2708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58626" y="8977602"/>
            <a:ext cx="1127893" cy="112789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>
                <a:alphaModFix amt="85000"/>
              </a:blip>
              <a:stretch>
                <a:fillRect l="-188" t="0" r="-188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770211" y="2787876"/>
            <a:ext cx="12067348" cy="6907674"/>
          </a:xfrm>
          <a:custGeom>
            <a:avLst/>
            <a:gdLst/>
            <a:ahLst/>
            <a:cxnLst/>
            <a:rect r="r" b="b" t="t" l="l"/>
            <a:pathLst>
              <a:path h="6907674" w="12067348">
                <a:moveTo>
                  <a:pt x="0" y="0"/>
                </a:moveTo>
                <a:lnTo>
                  <a:pt x="12067347" y="0"/>
                </a:lnTo>
                <a:lnTo>
                  <a:pt x="12067347" y="6907674"/>
                </a:lnTo>
                <a:lnTo>
                  <a:pt x="0" y="6907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811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7461" y="297149"/>
            <a:ext cx="9480749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Local Explanations with SHAP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1972" y="1469488"/>
            <a:ext cx="1623060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4419"/>
              </a:lnSpc>
              <a:buFont typeface="Arial"/>
              <a:buChar char="•"/>
            </a:pPr>
            <a:r>
              <a:rPr lang="en-US" sz="25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SHAP is a method that explains individual model predictions by showing how much each feature contributed to the final decision.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2710" y="3369664"/>
            <a:ext cx="11402580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22150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1116666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8159883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00840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958626" y="8977602"/>
            <a:ext cx="1127893" cy="112789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>
                <a:alphaModFix amt="85000"/>
              </a:blip>
              <a:stretch>
                <a:fillRect l="-188" t="0" r="-188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DAGrKTSFGsw</dc:identifier>
  <dcterms:modified xsi:type="dcterms:W3CDTF">2011-08-01T06:04:30Z</dcterms:modified>
  <cp:revision>1</cp:revision>
  <dc:title>Mohammad Ehsani</dc:title>
</cp:coreProperties>
</file>